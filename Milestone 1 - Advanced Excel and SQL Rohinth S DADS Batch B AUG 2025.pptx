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7098B-D4B7-4F03-91BE-A7BC015F147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10F55-2EFC-49D3-86DB-9F136BF42B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82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10F55-2EFC-49D3-86DB-9F136BF42BB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425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449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832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261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77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63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2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79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75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1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4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525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2653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081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61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194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48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78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CBCB33-6B9C-4E9B-B3B4-2654194C2F9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37E3F-B16C-4F14-ADD1-6AD4603B6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9671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F757-AE28-C9F6-7C87-F15CF36FD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098" y="0"/>
            <a:ext cx="10803987" cy="47773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Milestone 1 - Advanced Excel and SQL – Salary Data Analysis 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9F81C-FD83-F542-E682-B4A110148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302833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Rohinth Shanmugasundaram</a:t>
            </a:r>
            <a:endParaRPr lang="en-IN" dirty="0"/>
          </a:p>
          <a:p>
            <a:pPr lvl="0"/>
            <a:r>
              <a:rPr lang="en-US" b="1" dirty="0"/>
              <a:t>DADS, August Batch 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042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3D13-1C66-4759-BA91-7AA61060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972A9-46D8-0072-046F-C16037FE1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889"/>
            <a:ext cx="10515600" cy="49530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Motive of the project is to do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 cleaning </a:t>
            </a:r>
            <a:r>
              <a:rPr lang="en-US" dirty="0"/>
              <a:t>through the help of Excel and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aggregate data </a:t>
            </a:r>
            <a:r>
              <a:rPr lang="en-US" dirty="0"/>
              <a:t>with the help of SQL,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building pivot tables and dashboards </a:t>
            </a:r>
            <a:r>
              <a:rPr lang="en-US" dirty="0"/>
              <a:t>with the help of advanced excel functions.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04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34F8-2C5E-B20E-971E-7199C2E8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85F5-4FDD-E142-5FDB-3E14D8DB4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228"/>
            <a:ext cx="10515600" cy="4882735"/>
          </a:xfrm>
        </p:spPr>
        <p:txBody>
          <a:bodyPr/>
          <a:lstStyle/>
          <a:p>
            <a:r>
              <a:rPr lang="en-US" u="sng" dirty="0"/>
              <a:t>Industry:</a:t>
            </a:r>
            <a:r>
              <a:rPr lang="en-US" dirty="0"/>
              <a:t> The sector or field in which the individual works. </a:t>
            </a:r>
            <a:endParaRPr lang="en-IN" dirty="0"/>
          </a:p>
          <a:p>
            <a:pPr lvl="0"/>
            <a:r>
              <a:rPr lang="en-US" u="sng" dirty="0"/>
              <a:t>Annual Salary:</a:t>
            </a:r>
            <a:r>
              <a:rPr lang="en-US" dirty="0"/>
              <a:t> The individual's annual salary or earnings. </a:t>
            </a:r>
            <a:endParaRPr lang="en-IN" dirty="0"/>
          </a:p>
          <a:p>
            <a:pPr lvl="0"/>
            <a:r>
              <a:rPr lang="en-US" u="sng" dirty="0"/>
              <a:t>Additional Monetary Compensation:</a:t>
            </a:r>
            <a:r>
              <a:rPr lang="en-US" dirty="0"/>
              <a:t> Extra earnings beyond the base salary (e.g., bonuses, commissions). </a:t>
            </a:r>
            <a:endParaRPr lang="en-IN" dirty="0"/>
          </a:p>
          <a:p>
            <a:pPr lvl="0"/>
            <a:r>
              <a:rPr lang="en-US" u="sng" dirty="0"/>
              <a:t>Currency:</a:t>
            </a:r>
            <a:r>
              <a:rPr lang="en-US" dirty="0"/>
              <a:t> The currency in which the salary and compensation are reported. </a:t>
            </a:r>
            <a:endParaRPr lang="en-IN" dirty="0"/>
          </a:p>
          <a:p>
            <a:pPr lvl="0"/>
            <a:r>
              <a:rPr lang="en-US" u="sng" dirty="0"/>
              <a:t>Highest Level of Education Completed:</a:t>
            </a:r>
            <a:r>
              <a:rPr lang="en-US" dirty="0"/>
              <a:t> The highest degree or educational level attained by the individual. </a:t>
            </a:r>
            <a:endParaRPr lang="en-IN" dirty="0"/>
          </a:p>
          <a:p>
            <a:pPr lvl="0"/>
            <a:r>
              <a:rPr lang="en-US" u="sng" dirty="0"/>
              <a:t>Gender:</a:t>
            </a:r>
            <a:r>
              <a:rPr lang="en-US" dirty="0"/>
              <a:t> The gender identity of the individual.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919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630E-25CB-316F-A7B2-D4E482AE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A7191-A4EC-A523-215E-AA3339947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Objective of the project is to provide insights 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Popular industries.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Relevance of college degree in annual salary.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different genders are performing in different industries.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112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FD22-7CE3-8213-AD03-D2BA2486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and Pre Processing: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4A7D5-7C4E-AAFA-9A01-C8FBAF332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Removing Duplicates:</a:t>
            </a:r>
            <a:endParaRPr lang="en-IN" dirty="0"/>
          </a:p>
          <a:p>
            <a:r>
              <a:rPr lang="en-US" dirty="0"/>
              <a:t>There were 151 duplicates in the dataset, they were removed with the help of “Remove Duplicates” function in the Excel.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4EBBF4-E495-6D1C-78A9-68F96D0E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19976"/>
            <a:ext cx="10515600" cy="299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71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77F6-C849-D7C5-3FE0-BED33E12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Removing Columns: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88A45-5164-2DBA-6F32-F3671658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Removing columns that are having higher missing value percentages. For example, the columns – </a:t>
            </a:r>
          </a:p>
          <a:p>
            <a:r>
              <a:rPr lang="en-US" dirty="0"/>
              <a:t>‘</a:t>
            </a:r>
            <a:r>
              <a:rPr lang="en-IN" dirty="0"/>
              <a:t>Clarification of Job title’, </a:t>
            </a:r>
          </a:p>
          <a:p>
            <a:r>
              <a:rPr lang="en-IN" dirty="0"/>
              <a:t>‘Other Currency’, </a:t>
            </a:r>
          </a:p>
          <a:p>
            <a:r>
              <a:rPr lang="en-IN" dirty="0"/>
              <a:t>‘Income Clarification’ </a:t>
            </a:r>
          </a:p>
          <a:p>
            <a:pPr marL="0" indent="0">
              <a:buNone/>
            </a:pPr>
            <a:r>
              <a:rPr lang="en-IN" dirty="0"/>
              <a:t>have </a:t>
            </a:r>
            <a:r>
              <a:rPr lang="en-IN" b="1" dirty="0"/>
              <a:t>missing values more than 50 percentage</a:t>
            </a:r>
            <a:r>
              <a:rPr lang="en-IN" dirty="0"/>
              <a:t> hence those columns were deleted from the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38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C5EC69-15B3-DE88-CDE2-FC67848A5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191" y="562708"/>
            <a:ext cx="8243667" cy="534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5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29BB7-876E-62FF-6B1E-8C716550F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8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Removing Rows: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B5022-469F-D386-E4B2-8236A1827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671"/>
            <a:ext cx="10515600" cy="5206292"/>
          </a:xfrm>
        </p:spPr>
        <p:txBody>
          <a:bodyPr/>
          <a:lstStyle/>
          <a:p>
            <a:r>
              <a:rPr lang="en-US" dirty="0"/>
              <a:t>There are anomalies present in each of the columns – to present cleanest part for data analysis – removing such rows.</a:t>
            </a:r>
            <a:endParaRPr lang="en-IN" dirty="0"/>
          </a:p>
          <a:p>
            <a:r>
              <a:rPr lang="en-US" dirty="0"/>
              <a:t>For Example, the column – </a:t>
            </a:r>
            <a:r>
              <a:rPr lang="en-US" b="1" dirty="0"/>
              <a:t>‘Job Title’ have hyphens and irrelevant titles like ‘mum’</a:t>
            </a:r>
            <a:r>
              <a:rPr lang="en-US" dirty="0"/>
              <a:t> so those rows are removed.</a:t>
            </a:r>
            <a:endParaRPr lang="en-IN" dirty="0"/>
          </a:p>
          <a:p>
            <a:r>
              <a:rPr lang="en-US" dirty="0"/>
              <a:t>The </a:t>
            </a:r>
            <a:r>
              <a:rPr lang="en-US" b="1" dirty="0"/>
              <a:t>column city should have texts but it contains – numbers and hyphens</a:t>
            </a:r>
            <a:r>
              <a:rPr lang="en-US" dirty="0"/>
              <a:t>, so such rows are removed.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285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9246C8-537F-4E25-9A83-41D78F13C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90764"/>
            <a:ext cx="10515600" cy="477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67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C2CE-3232-0557-8DE7-6C7E7574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58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 Interpolation: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06BCE-B480-8493-CEFF-D8BDD73E1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618"/>
            <a:ext cx="10515600" cy="5009345"/>
          </a:xfrm>
        </p:spPr>
        <p:txBody>
          <a:bodyPr/>
          <a:lstStyle/>
          <a:p>
            <a:r>
              <a:rPr lang="en-US" dirty="0"/>
              <a:t>The column country has different variation of each county names – for example the country – </a:t>
            </a:r>
            <a:r>
              <a:rPr lang="en-US" b="1" dirty="0"/>
              <a:t>United States have variations like, USA, US, us and states</a:t>
            </a:r>
            <a:r>
              <a:rPr lang="en-US" dirty="0"/>
              <a:t>. Lot of such variations were present irrespective of the case.</a:t>
            </a:r>
          </a:p>
          <a:p>
            <a:r>
              <a:rPr lang="en-US" dirty="0"/>
              <a:t>So, filtering them and making them consistent with respect to the wording’s spacings and cases.</a:t>
            </a:r>
          </a:p>
          <a:p>
            <a:r>
              <a:rPr lang="en-US" dirty="0"/>
              <a:t>The same thing happened in currency were for </a:t>
            </a:r>
            <a:r>
              <a:rPr lang="en-US" b="1" dirty="0"/>
              <a:t>New Zealand and Australia had similar currency like AUD/NZD</a:t>
            </a:r>
            <a:r>
              <a:rPr lang="en-US" dirty="0"/>
              <a:t>, so they were filtered and AUD is replaced for Australia and NZD is replaced for New Zealand.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0099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EF4DF2-9A97-4119-4F61-8A41E3D9C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493" y="1266547"/>
            <a:ext cx="2932049" cy="44308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90274E-1DE4-9F37-02C2-201BA0E0F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587" y="1266547"/>
            <a:ext cx="2581635" cy="443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7302-9A61-CFC9-99FA-EAF8FA7E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Preprocessing: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9110C-EAB4-0281-C319-0BF9AF762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go through with the analysis especially aggregating data based on salary – it is important for us to make the currencies similar, hence USA is the most popular country in the dataset so changing every other currency with the conversion formula,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E75E8-AB81-CAEE-B97B-6EE7C1842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324" y="3429000"/>
            <a:ext cx="3418448" cy="319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82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7012-D9C5-EDB0-42B4-A5D06510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02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SQL Query: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08D1-2EAD-319C-A4EE-B956A25DA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146"/>
            <a:ext cx="10515600" cy="5107817"/>
          </a:xfrm>
        </p:spPr>
        <p:txBody>
          <a:bodyPr/>
          <a:lstStyle/>
          <a:p>
            <a:pPr lvl="0"/>
            <a:r>
              <a:rPr lang="en-US" dirty="0"/>
              <a:t>The dataset is further uploaded in a database called World and the data is imported.</a:t>
            </a:r>
            <a:endParaRPr lang="en-IN" dirty="0"/>
          </a:p>
          <a:p>
            <a:pPr lvl="0"/>
            <a:r>
              <a:rPr lang="en-US" dirty="0"/>
              <a:t>Each of the queries have been applied and the results are exported as a csv files. </a:t>
            </a:r>
            <a:endParaRPr lang="en-IN" dirty="0"/>
          </a:p>
          <a:p>
            <a:pPr lvl="0"/>
            <a:r>
              <a:rPr lang="en-US" dirty="0"/>
              <a:t>It is made sure that the data is not limited for the results.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3156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42C68-695D-6C1B-11BF-0EED0D9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77DA-5BB0-DCAD-28F0-03AA8BA0C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02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SQL Query: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F4A23-46ED-7EB9-438B-BBF4C7132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146"/>
            <a:ext cx="10515600" cy="5107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Gender, ROUND (100.0 * SUM (CASE WHEN `Additional Monetary Compensation in USD` &gt; 0 THEN 1 ELSE 0 END) / COUNT (*),2) AS </a:t>
            </a:r>
            <a:r>
              <a:rPr lang="en-US" dirty="0" err="1"/>
              <a:t>percentage_of_add_comp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salaryanalysis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GROUP BY Gender;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Here in the query, when the compensation is greater than zero it is counted and interpolated to 1 or else zero, these ones are counted to analyze them as percentages of compensation across gender.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607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A85C-7D6C-3CDB-ECB4-D933CD021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6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Relationships: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FD3BF-6487-D52E-5C98-0901E746B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837"/>
            <a:ext cx="10515600" cy="4756126"/>
          </a:xfrm>
        </p:spPr>
        <p:txBody>
          <a:bodyPr/>
          <a:lstStyle/>
          <a:p>
            <a:r>
              <a:rPr lang="en-US" dirty="0"/>
              <a:t>The columns are queried, and now </a:t>
            </a:r>
            <a:r>
              <a:rPr lang="en-US" b="1" dirty="0"/>
              <a:t>they don’t belong to the same data table, so relationships must formed</a:t>
            </a:r>
            <a:r>
              <a:rPr lang="en-US" dirty="0"/>
              <a:t>, so that pivot tables, charts and slicers can be connected and the dashboard can be interactive and visually appealing.  </a:t>
            </a:r>
            <a:endParaRPr lang="en-IN" dirty="0"/>
          </a:p>
          <a:p>
            <a:r>
              <a:rPr lang="en-US" dirty="0"/>
              <a:t>For Example, </a:t>
            </a:r>
            <a:r>
              <a:rPr lang="en-US" b="1" dirty="0"/>
              <a:t>the table with gender and percentage of people that had add compensation, has unique gender data so they can form one to many relations with relevant tables.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606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2549C6-A68B-7F1F-9D19-5E7084147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571" y="1227621"/>
            <a:ext cx="10440857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19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3392-38BE-8845-36E0-77ECE1A8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74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Pivot Tables and charts: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27AAB-B017-A09A-FE27-6A092D437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2874"/>
            <a:ext cx="10515600" cy="5164089"/>
          </a:xfrm>
        </p:spPr>
        <p:txBody>
          <a:bodyPr/>
          <a:lstStyle/>
          <a:p>
            <a:r>
              <a:rPr lang="en-US" dirty="0"/>
              <a:t>These Tables are created </a:t>
            </a:r>
            <a:r>
              <a:rPr lang="en-US" b="1" dirty="0"/>
              <a:t>through power pivot</a:t>
            </a:r>
            <a:r>
              <a:rPr lang="en-US" dirty="0"/>
              <a:t>, they were formed from the connected tables only, so that the final result can be interactive.</a:t>
            </a:r>
            <a:endParaRPr lang="en-IN" dirty="0"/>
          </a:p>
          <a:p>
            <a:r>
              <a:rPr lang="en-US" dirty="0"/>
              <a:t>Finally – The slicers will be connected with all the pivot tables analyzed.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310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F047D7-2CC0-066C-82D0-D59F16736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78" y="407962"/>
            <a:ext cx="11099410" cy="561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73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5D8E-CC08-CF99-1563-6B22E2F5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Dashboard: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1A4654-2A23-E9AE-E04A-9BA8F3553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00333"/>
            <a:ext cx="10515600" cy="559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95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F056-2A8A-A814-B822-D70E15EF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Insights: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AF15D-FEE8-2304-9299-779529FBB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507968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The peoples with highest levels of education – like </a:t>
            </a:r>
            <a:r>
              <a:rPr lang="en-US" b="1" dirty="0"/>
              <a:t>PHD and professional degree have higher annual average salary of about 120 thousand dollars per annum</a:t>
            </a:r>
            <a:r>
              <a:rPr lang="en-US" dirty="0"/>
              <a:t>.</a:t>
            </a:r>
            <a:endParaRPr lang="en-IN" dirty="0"/>
          </a:p>
          <a:p>
            <a:pPr lvl="0"/>
            <a:r>
              <a:rPr lang="en-US" dirty="0"/>
              <a:t>The trend seems to </a:t>
            </a:r>
            <a:r>
              <a:rPr lang="en-US" b="1" dirty="0"/>
              <a:t>increase for master’s degree which is above 80 thousand dollars per annum</a:t>
            </a:r>
            <a:r>
              <a:rPr lang="en-US" dirty="0"/>
              <a:t>.</a:t>
            </a:r>
            <a:endParaRPr lang="en-IN" dirty="0"/>
          </a:p>
          <a:p>
            <a:pPr lvl="0"/>
            <a:r>
              <a:rPr lang="en-US" b="1" dirty="0"/>
              <a:t>Social Network as an industry have contributed around about 2 million dollars a year</a:t>
            </a:r>
            <a:r>
              <a:rPr lang="en-US" dirty="0"/>
              <a:t>.</a:t>
            </a:r>
            <a:endParaRPr lang="en-IN" dirty="0"/>
          </a:p>
          <a:p>
            <a:pPr lvl="0"/>
            <a:r>
              <a:rPr lang="en-US" b="1" dirty="0"/>
              <a:t>IPR – The Intellectual Property Right provides salary of more than 1 million dollars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386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3FBC-FD54-66BA-044A-3ECFFB15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81F9-8135-6084-A4CE-4610E076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Insights: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F537-B7FF-36B3-D26E-0F6F18DEC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5079683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PHD being the highest average salary – slicing it women contribute about 65 percent in that salary</a:t>
            </a:r>
            <a:r>
              <a:rPr lang="en-US" dirty="0"/>
              <a:t>.</a:t>
            </a:r>
            <a:endParaRPr lang="en-IN" dirty="0"/>
          </a:p>
          <a:p>
            <a:pPr lvl="0"/>
            <a:r>
              <a:rPr lang="en-US" b="1" dirty="0"/>
              <a:t>Men have performed very well in utilities and telecommunication industry having average salary greater than 160 thousand dollars</a:t>
            </a:r>
            <a:endParaRPr lang="en-IN" b="1" dirty="0"/>
          </a:p>
          <a:p>
            <a:pPr lvl="0"/>
            <a:r>
              <a:rPr lang="en-US" b="1" dirty="0"/>
              <a:t>Women have performed very well in IPR industry with the average salary of below 120 thousand dollars.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547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1557-010F-E9DA-F069-9B08D636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49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Recommendations: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24B7C-3806-B76C-F217-D1D01CA80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618"/>
            <a:ext cx="10515600" cy="5009345"/>
          </a:xfrm>
        </p:spPr>
        <p:txBody>
          <a:bodyPr/>
          <a:lstStyle/>
          <a:p>
            <a:pPr lvl="0"/>
            <a:r>
              <a:rPr lang="en-US" dirty="0"/>
              <a:t>From the above insights we could say that people with </a:t>
            </a:r>
            <a:r>
              <a:rPr lang="en-US" b="1" dirty="0"/>
              <a:t>higher levels of education, have higher salary</a:t>
            </a:r>
            <a:r>
              <a:rPr lang="en-US" dirty="0"/>
              <a:t>, so people those </a:t>
            </a:r>
            <a:r>
              <a:rPr lang="en-US" b="1" dirty="0"/>
              <a:t>who need improved salary range should constantly upskill themselves</a:t>
            </a:r>
            <a:r>
              <a:rPr lang="en-US" dirty="0"/>
              <a:t>.</a:t>
            </a:r>
            <a:endParaRPr lang="en-IN" dirty="0"/>
          </a:p>
          <a:p>
            <a:pPr lvl="0"/>
            <a:r>
              <a:rPr lang="en-US" b="1" dirty="0"/>
              <a:t>Social Networks, IQR and Oil have been recognized as fields with high potential </a:t>
            </a:r>
            <a:r>
              <a:rPr lang="en-US" dirty="0"/>
              <a:t>based on the above data, so persons who would </a:t>
            </a:r>
            <a:r>
              <a:rPr lang="en-US" b="1" dirty="0"/>
              <a:t>consider reliability and job security</a:t>
            </a:r>
            <a:r>
              <a:rPr lang="en-US" dirty="0"/>
              <a:t> can consider entering those fields.</a:t>
            </a:r>
            <a:endParaRPr lang="en-IN" dirty="0"/>
          </a:p>
          <a:p>
            <a:pPr lvl="0"/>
            <a:r>
              <a:rPr lang="en-US" b="1" dirty="0"/>
              <a:t>Women</a:t>
            </a:r>
            <a:r>
              <a:rPr lang="en-US" dirty="0"/>
              <a:t> have especially performed well in </a:t>
            </a:r>
            <a:r>
              <a:rPr lang="en-US" b="1" dirty="0"/>
              <a:t>IQR industry</a:t>
            </a:r>
            <a:r>
              <a:rPr lang="en-US" dirty="0"/>
              <a:t>, so encouraging </a:t>
            </a:r>
            <a:r>
              <a:rPr lang="en-US" b="1" dirty="0"/>
              <a:t>especially students </a:t>
            </a:r>
            <a:r>
              <a:rPr lang="en-US" dirty="0"/>
              <a:t>to explore such industry.</a:t>
            </a:r>
            <a:endParaRPr lang="en-IN" dirty="0"/>
          </a:p>
          <a:p>
            <a:pPr lvl="0"/>
            <a:r>
              <a:rPr lang="en-US" b="1" dirty="0"/>
              <a:t>men</a:t>
            </a:r>
            <a:r>
              <a:rPr lang="en-US" dirty="0"/>
              <a:t> have especially performed well in </a:t>
            </a:r>
            <a:r>
              <a:rPr lang="en-US" b="1" dirty="0"/>
              <a:t>utilities and telecommunication </a:t>
            </a:r>
            <a:r>
              <a:rPr lang="en-US" dirty="0"/>
              <a:t>industry, so encouraging </a:t>
            </a:r>
            <a:r>
              <a:rPr lang="en-US" b="1" dirty="0"/>
              <a:t>especially students </a:t>
            </a:r>
            <a:r>
              <a:rPr lang="en-US" dirty="0"/>
              <a:t>to explore such industry.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074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</TotalTime>
  <Words>980</Words>
  <Application>Microsoft Office PowerPoint</Application>
  <PresentationFormat>Widescreen</PresentationFormat>
  <Paragraphs>71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Century Gothic</vt:lpstr>
      <vt:lpstr>Wingdings 3</vt:lpstr>
      <vt:lpstr>Ion</vt:lpstr>
      <vt:lpstr>Milestone 1 - Advanced Excel and SQL – Salary Data Analysis  </vt:lpstr>
      <vt:lpstr>Introduction: </vt:lpstr>
      <vt:lpstr>Dataset Overview: </vt:lpstr>
      <vt:lpstr>Objective:</vt:lpstr>
      <vt:lpstr>Data Cleaning and Pre Processing:</vt:lpstr>
      <vt:lpstr>Removing Columns: </vt:lpstr>
      <vt:lpstr>PowerPoint Presentation</vt:lpstr>
      <vt:lpstr>Removing Rows: </vt:lpstr>
      <vt:lpstr>PowerPoint Presentation</vt:lpstr>
      <vt:lpstr>Data Interpolation: </vt:lpstr>
      <vt:lpstr>PowerPoint Presentation</vt:lpstr>
      <vt:lpstr>Preprocessing:</vt:lpstr>
      <vt:lpstr>SQL Query: </vt:lpstr>
      <vt:lpstr>SQL Query: </vt:lpstr>
      <vt:lpstr>Relationships:</vt:lpstr>
      <vt:lpstr>PowerPoint Presentation</vt:lpstr>
      <vt:lpstr>Pivot Tables and charts: </vt:lpstr>
      <vt:lpstr>PowerPoint Presentation</vt:lpstr>
      <vt:lpstr>Dashboard: </vt:lpstr>
      <vt:lpstr>Insights: </vt:lpstr>
      <vt:lpstr>Insights: </vt:lpstr>
      <vt:lpstr>Recommendations: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Shanmugasundaram, Rohinth</dc:creator>
  <cp:lastModifiedBy>Shanmugasundaram, Rohinth</cp:lastModifiedBy>
  <cp:revision>4</cp:revision>
  <dcterms:created xsi:type="dcterms:W3CDTF">2025-12-29T08:58:31Z</dcterms:created>
  <dcterms:modified xsi:type="dcterms:W3CDTF">2025-12-29T09:31:24Z</dcterms:modified>
</cp:coreProperties>
</file>